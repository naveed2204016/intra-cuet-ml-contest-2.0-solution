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0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l_contest_presentation_slid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blem_and_dataset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ch_methodology_infographic_in_neon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51800" y="96012"/>
            <a:ext cx="4572000" cy="45720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4290" y="4489344"/>
            <a:ext cx="5486400" cy="36576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43750" y="5528133"/>
            <a:ext cx="7315200" cy="256032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432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6891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3350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19809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62688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52728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69187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5646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02105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70432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6891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03350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19809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62688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52728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69187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85646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02105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70432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86891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03350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19809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362688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52728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69187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85646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02105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70432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6891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03350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19809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362688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52728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69187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85646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02105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-274320" y="612648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7160" y="62707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8640" y="632756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0120" y="626236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371600" y="611473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83080" y="59742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194560" y="59260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606040" y="59994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017520" y="614992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429000" y="62861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840480" y="63255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251960" y="624414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663440" y="609141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074920" y="595994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-274320" y="6460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37160" y="64869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48640" y="639477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60120" y="623966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371600" y="611573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783080" y="609816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194560" y="61976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606040" y="63537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017520" y="64718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429000" y="64803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840480" y="637397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251960" y="621734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663440" y="610543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74920" y="61061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-274320" y="663858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37160" y="652305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63666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60120" y="62642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371600" y="62779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783080" y="639945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94560" y="65550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606040" y="66503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017520" y="66275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9000" y="650050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840480" y="634622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51960" y="62583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663440" y="629013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074920" y="6422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-274320" y="66486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7160" y="649716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48640" y="64203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60120" y="64648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371600" y="66035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783080" y="6752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194560" y="682113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606040" y="67679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3017520" y="66252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429000" y="64794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840480" y="64190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251960" y="64807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663440" y="662701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074920" y="676919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-274320" y="663260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37160" y="658445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48640" y="66578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960120" y="68082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371600" y="69445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783080" y="69838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2194560" y="690251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606040" y="674977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3017520" y="661831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3429000" y="658786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3840480" y="667690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4251960" y="6831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663440" y="69576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074920" y="69791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-274320" y="67565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37160" y="685597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640" y="701211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60120" y="71302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371600" y="713868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783080" y="703234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2194560" y="68757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606040" y="67638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3017520" y="67645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3429000" y="68773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840480" y="703396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251960" y="71392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663440" y="71294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074920" y="701041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 Display"/>
              </a:defRPr>
            </a:pPr>
            <a:r>
              <a:rPr dirty="0"/>
              <a:t>Step 1 — Hybrid Retrieval Setup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37160" y="320040"/>
            <a:ext cx="411480" cy="411480"/>
          </a:xfrm>
          <a:prstGeom prst="roundRect">
            <a:avLst/>
          </a:prstGeom>
          <a:noFill/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" y="1051560"/>
            <a:ext cx="3840480" cy="27432"/>
          </a:xfrm>
          <a:prstGeom prst="rect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58368" y="1078992"/>
            <a:ext cx="1280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ECEB"/>
                </a:solidFill>
                <a:latin typeface="Aptos"/>
              </a:defRPr>
            </a:pPr>
            <a:r>
              <a:t>Sprint-1: building the evidence foundation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1645920"/>
            <a:ext cx="4114800" cy="53035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60120" y="17922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🔎  Dense Retrieval</a:t>
            </a:r>
          </a:p>
        </p:txBody>
      </p:sp>
      <p:sp>
        <p:nvSpPr>
          <p:cNvPr id="131" name="Oval 130"/>
          <p:cNvSpPr/>
          <p:nvPr/>
        </p:nvSpPr>
        <p:spPr>
          <a:xfrm>
            <a:off x="1005840" y="2404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170432" y="23317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Used BGE-M3 embeddings to encode KB chunks and questions.</a:t>
            </a:r>
          </a:p>
        </p:txBody>
      </p:sp>
      <p:sp>
        <p:nvSpPr>
          <p:cNvPr id="133" name="Oval 132"/>
          <p:cNvSpPr/>
          <p:nvPr/>
        </p:nvSpPr>
        <p:spPr>
          <a:xfrm>
            <a:off x="1005840" y="3118104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170432" y="3044952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Stored dense vectors in a FAISS index for fast top-k search.</a:t>
            </a:r>
          </a:p>
        </p:txBody>
      </p:sp>
      <p:sp>
        <p:nvSpPr>
          <p:cNvPr id="135" name="Oval 134"/>
          <p:cNvSpPr/>
          <p:nvPr/>
        </p:nvSpPr>
        <p:spPr>
          <a:xfrm>
            <a:off x="1005840" y="3831336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170432" y="3758184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Dense search captured semantic similarity even when exact words differed.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257800" y="1645920"/>
            <a:ext cx="4114800" cy="53035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486400" y="17922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🧾  Sparse Retrieval</a:t>
            </a:r>
          </a:p>
        </p:txBody>
      </p:sp>
      <p:sp>
        <p:nvSpPr>
          <p:cNvPr id="139" name="Oval 138"/>
          <p:cNvSpPr/>
          <p:nvPr/>
        </p:nvSpPr>
        <p:spPr>
          <a:xfrm>
            <a:off x="5532120" y="2404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696712" y="23317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BM25 captured keyword overlap and rare entity names.</a:t>
            </a:r>
          </a:p>
        </p:txBody>
      </p:sp>
      <p:sp>
        <p:nvSpPr>
          <p:cNvPr id="141" name="Oval 140"/>
          <p:cNvSpPr/>
          <p:nvPr/>
        </p:nvSpPr>
        <p:spPr>
          <a:xfrm>
            <a:off x="5532120" y="3118104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696712" y="3044952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Worked well for dates, names, places, and exact fact questions.</a:t>
            </a:r>
          </a:p>
        </p:txBody>
      </p:sp>
      <p:sp>
        <p:nvSpPr>
          <p:cNvPr id="143" name="Oval 142"/>
          <p:cNvSpPr/>
          <p:nvPr/>
        </p:nvSpPr>
        <p:spPr>
          <a:xfrm>
            <a:off x="5532120" y="3831336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696712" y="3758184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Balanced dense retrieval by preventing semantic drift.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784080" y="1645920"/>
            <a:ext cx="4114800" cy="53035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0012680" y="17922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⚙  Hybrid Merge</a:t>
            </a:r>
          </a:p>
        </p:txBody>
      </p:sp>
      <p:sp>
        <p:nvSpPr>
          <p:cNvPr id="147" name="Oval 146"/>
          <p:cNvSpPr/>
          <p:nvPr/>
        </p:nvSpPr>
        <p:spPr>
          <a:xfrm>
            <a:off x="10058400" y="2404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222992" y="23317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Combined BM25 and BGE-M3 rankings into a stronger candidate pool.</a:t>
            </a:r>
          </a:p>
        </p:txBody>
      </p:sp>
      <p:sp>
        <p:nvSpPr>
          <p:cNvPr id="149" name="Oval 148"/>
          <p:cNvSpPr/>
          <p:nvPr/>
        </p:nvSpPr>
        <p:spPr>
          <a:xfrm>
            <a:off x="10058400" y="3118104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222992" y="3044952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Retrieved broad top evidence before reranking.</a:t>
            </a:r>
          </a:p>
        </p:txBody>
      </p:sp>
      <p:sp>
        <p:nvSpPr>
          <p:cNvPr id="151" name="Oval 150"/>
          <p:cNvSpPr/>
          <p:nvPr/>
        </p:nvSpPr>
        <p:spPr>
          <a:xfrm>
            <a:off x="10058400" y="3831336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222992" y="3758184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This stage set the upper bound for the entire QA system.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05840" y="7132320"/>
            <a:ext cx="1920240" cy="59436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115568" y="7333488"/>
            <a:ext cx="170078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22ECEB"/>
                </a:solidFill>
                <a:latin typeface="Aptos Display"/>
              </a:defRPr>
            </a:pPr>
            <a:r>
              <a:t>Question</a:t>
            </a:r>
          </a:p>
        </p:txBody>
      </p:sp>
      <p:sp>
        <p:nvSpPr>
          <p:cNvPr id="155" name="Right Arrow 154"/>
          <p:cNvSpPr/>
          <p:nvPr/>
        </p:nvSpPr>
        <p:spPr>
          <a:xfrm>
            <a:off x="3063240" y="7296912"/>
            <a:ext cx="685799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3886200" y="7132320"/>
            <a:ext cx="2286000" cy="59436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3995928" y="7333488"/>
            <a:ext cx="2066543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22ECEB"/>
                </a:solidFill>
                <a:latin typeface="Aptos Display"/>
              </a:defRPr>
            </a:pPr>
            <a:r>
              <a:t>BM25 + BGE-M3</a:t>
            </a:r>
          </a:p>
        </p:txBody>
      </p:sp>
      <p:sp>
        <p:nvSpPr>
          <p:cNvPr id="158" name="Right Arrow 157"/>
          <p:cNvSpPr/>
          <p:nvPr/>
        </p:nvSpPr>
        <p:spPr>
          <a:xfrm>
            <a:off x="6309360" y="7296912"/>
            <a:ext cx="685800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7132320" y="7132320"/>
            <a:ext cx="2468880" cy="59436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7242048" y="7333488"/>
            <a:ext cx="224942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22ECEB"/>
                </a:solidFill>
                <a:latin typeface="Aptos Display"/>
              </a:defRPr>
            </a:pPr>
            <a:r>
              <a:t>Top KB Chunks</a:t>
            </a:r>
          </a:p>
        </p:txBody>
      </p:sp>
      <p:sp>
        <p:nvSpPr>
          <p:cNvPr id="161" name="Right Arrow 160"/>
          <p:cNvSpPr/>
          <p:nvPr/>
        </p:nvSpPr>
        <p:spPr>
          <a:xfrm>
            <a:off x="9738360" y="7296912"/>
            <a:ext cx="685800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0561320" y="7132320"/>
            <a:ext cx="2834640" cy="59436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0671048" y="7333488"/>
            <a:ext cx="261518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22ECEB"/>
                </a:solidFill>
                <a:latin typeface="Aptos Display"/>
              </a:defRPr>
            </a:pPr>
            <a:r>
              <a:t>Evidence Candidates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23290"/>
            <a:ext cx="4572000" cy="45720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5383" y="4292641"/>
            <a:ext cx="5486400" cy="36576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203247" y="5597215"/>
            <a:ext cx="7315200" cy="256032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432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6891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3350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19809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62688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52728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69187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5646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02105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70432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6891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03350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19809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62688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52728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69187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85646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02105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70432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86891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03350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19809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362688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52728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69187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85646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02105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70432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6891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03350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19809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362688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52728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69187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85646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02105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-274320" y="612648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7160" y="62707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8640" y="632756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0120" y="626236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371600" y="611473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83080" y="59742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194560" y="59260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606040" y="59994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017520" y="614992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429000" y="62861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840480" y="63255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251960" y="624414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663440" y="609141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074920" y="595994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-274320" y="6460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37160" y="64869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48640" y="639477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60120" y="623966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371600" y="611573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783080" y="609816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194560" y="61976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606040" y="63537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017520" y="64718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429000" y="64803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840480" y="637397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251960" y="621734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663440" y="610543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74920" y="61061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-274320" y="663858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37160" y="652305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63666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60120" y="62642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371600" y="62779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783080" y="639945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94560" y="65550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606040" y="66503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017520" y="66275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9000" y="650050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840480" y="634622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51960" y="62583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663440" y="629013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074920" y="6422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-274320" y="66486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7160" y="649716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48640" y="64203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60120" y="64648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371600" y="66035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783080" y="6752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194560" y="682113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606040" y="67679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3017520" y="66252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429000" y="64794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840480" y="64190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251960" y="64807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663440" y="662701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074920" y="676919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-274320" y="663260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37160" y="658445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48640" y="66578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960120" y="68082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371600" y="69445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783080" y="69838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2194560" y="690251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606040" y="674977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3017520" y="661831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3429000" y="658786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3840480" y="667690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4251960" y="6831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663440" y="69576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074920" y="69791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-274320" y="67565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37160" y="685597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640" y="701211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60120" y="71302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371600" y="713868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783080" y="703234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2194560" y="68757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606040" y="67638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3017520" y="67645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3429000" y="68773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840480" y="703396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251960" y="71392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663440" y="71294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074920" y="701041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 Display"/>
              </a:defRPr>
            </a:pPr>
            <a:r>
              <a:t>Step 2 — Focused Evidence Windows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37160" y="320040"/>
            <a:ext cx="411480" cy="411480"/>
          </a:xfrm>
          <a:prstGeom prst="roundRect">
            <a:avLst/>
          </a:prstGeom>
          <a:noFill/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" y="1051560"/>
            <a:ext cx="3840480" cy="27432"/>
          </a:xfrm>
          <a:prstGeom prst="rect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58368" y="1078992"/>
            <a:ext cx="1280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ECEB"/>
                </a:solidFill>
                <a:latin typeface="Aptos"/>
              </a:defRPr>
            </a:pPr>
            <a:r>
              <a:t>Why full chunks were not enough for extractive QA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1645920"/>
            <a:ext cx="6309360" cy="585216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60120" y="1792224"/>
            <a:ext cx="5852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⚠  Problem with raw chunks</a:t>
            </a:r>
          </a:p>
        </p:txBody>
      </p:sp>
      <p:sp>
        <p:nvSpPr>
          <p:cNvPr id="131" name="Oval 130"/>
          <p:cNvSpPr/>
          <p:nvPr/>
        </p:nvSpPr>
        <p:spPr>
          <a:xfrm>
            <a:off x="1051560" y="2404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216151" y="2331720"/>
            <a:ext cx="539495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Retrieved chunks were often long and noisy, with navigation/table text mixed in.</a:t>
            </a:r>
          </a:p>
        </p:txBody>
      </p:sp>
      <p:sp>
        <p:nvSpPr>
          <p:cNvPr id="133" name="Oval 132"/>
          <p:cNvSpPr/>
          <p:nvPr/>
        </p:nvSpPr>
        <p:spPr>
          <a:xfrm>
            <a:off x="1051560" y="3063239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216151" y="2990087"/>
            <a:ext cx="539495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The answer span was short, but the reader had to scan too much context.</a:t>
            </a:r>
          </a:p>
        </p:txBody>
      </p:sp>
      <p:sp>
        <p:nvSpPr>
          <p:cNvPr id="135" name="Oval 134"/>
          <p:cNvSpPr/>
          <p:nvPr/>
        </p:nvSpPr>
        <p:spPr>
          <a:xfrm>
            <a:off x="1051560" y="3721607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216151" y="3648455"/>
            <a:ext cx="539495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Long context increased confusion: nearby facts could look like plausible answers.</a:t>
            </a:r>
          </a:p>
        </p:txBody>
      </p:sp>
      <p:sp>
        <p:nvSpPr>
          <p:cNvPr id="137" name="Oval 136"/>
          <p:cNvSpPr/>
          <p:nvPr/>
        </p:nvSpPr>
        <p:spPr>
          <a:xfrm>
            <a:off x="1051560" y="4379975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216151" y="4306823"/>
            <a:ext cx="539495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Therefore, retrieval alone was not enough; we needed answer-focused windows.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498079" y="1645920"/>
            <a:ext cx="6400800" cy="585216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726679" y="1792224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🪟  Window generation strategy</a:t>
            </a:r>
          </a:p>
        </p:txBody>
      </p:sp>
      <p:sp>
        <p:nvSpPr>
          <p:cNvPr id="141" name="Oval 140"/>
          <p:cNvSpPr/>
          <p:nvPr/>
        </p:nvSpPr>
        <p:spPr>
          <a:xfrm>
            <a:off x="7818120" y="2404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7982712" y="2331720"/>
            <a:ext cx="5486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Created multiple window types: keyphrase, title, answer-centered, sentence, and overlap windows.</a:t>
            </a:r>
          </a:p>
        </p:txBody>
      </p:sp>
      <p:sp>
        <p:nvSpPr>
          <p:cNvPr id="143" name="Oval 142"/>
          <p:cNvSpPr/>
          <p:nvPr/>
        </p:nvSpPr>
        <p:spPr>
          <a:xfrm>
            <a:off x="7818120" y="3063239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982712" y="2990087"/>
            <a:ext cx="5486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Each window kept a compact piece of evidence around likely answer regions.</a:t>
            </a:r>
          </a:p>
        </p:txBody>
      </p:sp>
      <p:sp>
        <p:nvSpPr>
          <p:cNvPr id="145" name="Oval 144"/>
          <p:cNvSpPr/>
          <p:nvPr/>
        </p:nvSpPr>
        <p:spPr>
          <a:xfrm>
            <a:off x="7818120" y="3721607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982712" y="3648455"/>
            <a:ext cx="5486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Generated positive training examples only when the gold answer appeared in a window.</a:t>
            </a:r>
          </a:p>
        </p:txBody>
      </p:sp>
      <p:sp>
        <p:nvSpPr>
          <p:cNvPr id="147" name="Oval 146"/>
          <p:cNvSpPr/>
          <p:nvPr/>
        </p:nvSpPr>
        <p:spPr>
          <a:xfrm>
            <a:off x="7818120" y="4379975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7982712" y="4306823"/>
            <a:ext cx="5486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Reader training became closer to the final inference setting.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97280" y="7086600"/>
            <a:ext cx="12435840" cy="658368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417320" y="7242048"/>
            <a:ext cx="11795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t>Key idea: convert a noisy document-retrieval task into a precise evidence-window ranking and span-extraction task.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93808" y="198882"/>
            <a:ext cx="4572000" cy="45720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753" y="4400812"/>
            <a:ext cx="5486400" cy="36576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205472" y="5696352"/>
            <a:ext cx="7315200" cy="256032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432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6891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3350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19809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62688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52728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69187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5646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02105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70432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6891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03350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19809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62688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52728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69187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85646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02105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70432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86891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03350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19809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362688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52728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69187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85646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02105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70432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6891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03350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19809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362688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52728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69187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85646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02105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-274320" y="612648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7160" y="62707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8640" y="632756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0120" y="626236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371600" y="611473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83080" y="59742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194560" y="59260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606040" y="59994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017520" y="614992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429000" y="62861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840480" y="63255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251960" y="624414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663440" y="609141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074920" y="595994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-274320" y="6460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37160" y="64869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48640" y="639477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60120" y="623966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371600" y="611573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783080" y="609816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194560" y="61976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606040" y="63537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017520" y="64718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429000" y="64803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840480" y="637397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251960" y="621734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663440" y="610543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74920" y="61061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-274320" y="663858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37160" y="652305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63666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60120" y="62642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371600" y="62779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783080" y="639945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94560" y="65550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606040" y="66503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017520" y="66275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9000" y="650050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840480" y="634622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51960" y="62583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663440" y="629013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074920" y="6422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-274320" y="66486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7160" y="649716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48640" y="64203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60120" y="64648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371600" y="66035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783080" y="6752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194560" y="682113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606040" y="67679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3017520" y="66252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429000" y="64794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840480" y="64190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251960" y="64807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663440" y="662701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074920" y="676919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-274320" y="663260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37160" y="658445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48640" y="66578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960120" y="68082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371600" y="69445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783080" y="69838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2194560" y="690251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606040" y="674977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3017520" y="661831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3429000" y="658786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3840480" y="667690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4251960" y="6831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663440" y="69576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074920" y="69791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-274320" y="67565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37160" y="685597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640" y="701211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60120" y="71302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371600" y="713868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783080" y="703234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2194560" y="68757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606040" y="67638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3017520" y="67645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3429000" y="68773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840480" y="703396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251960" y="71392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663440" y="71294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074920" y="701041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 Display"/>
              </a:defRPr>
            </a:pPr>
            <a:r>
              <a:t>Step 3 — BanglaBERT Hard-Negative Reranker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37160" y="320040"/>
            <a:ext cx="411480" cy="411480"/>
          </a:xfrm>
          <a:prstGeom prst="roundRect">
            <a:avLst/>
          </a:prstGeom>
          <a:noFill/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" y="1051560"/>
            <a:ext cx="3840480" cy="27432"/>
          </a:xfrm>
          <a:prstGeom prst="rect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58368" y="1078992"/>
            <a:ext cx="1280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ECEB"/>
                </a:solidFill>
                <a:latin typeface="Aptos"/>
              </a:defRPr>
            </a:pPr>
            <a:r>
              <a:t>Learning which window actually supports the answer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22960" y="2011680"/>
            <a:ext cx="2377440" cy="128016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847088" y="1847088"/>
            <a:ext cx="329184" cy="329184"/>
          </a:xfrm>
          <a:prstGeom prst="ellipse">
            <a:avLst/>
          </a:prstGeom>
          <a:solidFill>
            <a:srgbClr val="051637"/>
          </a:solidFill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32688" y="2212848"/>
            <a:ext cx="215798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22ECEB"/>
                </a:solidFill>
                <a:latin typeface="Aptos Display"/>
              </a:defRPr>
            </a:pPr>
            <a:r>
              <a:t>Top-100 Windows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69264" y="2761488"/>
            <a:ext cx="2084832" cy="4571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From hybrid retrieval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3429000" y="2560320"/>
            <a:ext cx="685800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4251960" y="2011680"/>
            <a:ext cx="2743200" cy="128016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55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5458968" y="1847088"/>
            <a:ext cx="329184" cy="329184"/>
          </a:xfrm>
          <a:prstGeom prst="ellipse">
            <a:avLst/>
          </a:prstGeom>
          <a:solidFill>
            <a:srgbClr val="051637"/>
          </a:solidFill>
          <a:ln w="19050">
            <a:solidFill>
              <a:srgbClr val="55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61688" y="2212848"/>
            <a:ext cx="252374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55E6AA"/>
                </a:solidFill>
                <a:latin typeface="Aptos Display"/>
              </a:defRPr>
            </a:pPr>
            <a:r>
              <a:t>Positive Window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398264" y="2761488"/>
            <a:ext cx="2450592" cy="4571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Contains gold answer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7223760" y="2560320"/>
            <a:ext cx="685800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8046720" y="2011680"/>
            <a:ext cx="2743200" cy="128016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9253728" y="1847088"/>
            <a:ext cx="329184" cy="329184"/>
          </a:xfrm>
          <a:prstGeom prst="ellipse">
            <a:avLst/>
          </a:prstGeom>
          <a:solidFill>
            <a:srgbClr val="051637"/>
          </a:solidFill>
          <a:ln w="1905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156448" y="2212848"/>
            <a:ext cx="252374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FFC457"/>
                </a:solidFill>
                <a:latin typeface="Aptos Display"/>
              </a:defRPr>
            </a:pPr>
            <a:r>
              <a:t>Hard Negatives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193024" y="2761488"/>
            <a:ext cx="2450592" cy="4571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High-rank but answer absent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11018520" y="2560320"/>
            <a:ext cx="685800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11841480" y="2011680"/>
            <a:ext cx="2103120" cy="128016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2728448" y="1847088"/>
            <a:ext cx="329184" cy="329184"/>
          </a:xfrm>
          <a:prstGeom prst="ellipse">
            <a:avLst/>
          </a:prstGeom>
          <a:solidFill>
            <a:srgbClr val="051637"/>
          </a:solidFill>
          <a:ln w="19050"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951207" y="2212848"/>
            <a:ext cx="1883663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9770FF"/>
                </a:solidFill>
                <a:latin typeface="Aptos Display"/>
              </a:defRPr>
            </a:pPr>
            <a:r>
              <a:t>Reranker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987784" y="2761488"/>
            <a:ext cx="1810511" cy="4571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BanglaBERT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22960" y="3931920"/>
            <a:ext cx="6126480" cy="292608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51560" y="4078224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🎯  Training signal</a:t>
            </a:r>
          </a:p>
        </p:txBody>
      </p:sp>
      <p:sp>
        <p:nvSpPr>
          <p:cNvPr id="150" name="Oval 149"/>
          <p:cNvSpPr/>
          <p:nvPr/>
        </p:nvSpPr>
        <p:spPr>
          <a:xfrm>
            <a:off x="1143000" y="464515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307592" y="4572000"/>
            <a:ext cx="53035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Positive examples: windows that contain answer spans.</a:t>
            </a:r>
          </a:p>
        </p:txBody>
      </p:sp>
      <p:sp>
        <p:nvSpPr>
          <p:cNvPr id="152" name="Oval 151"/>
          <p:cNvSpPr/>
          <p:nvPr/>
        </p:nvSpPr>
        <p:spPr>
          <a:xfrm>
            <a:off x="1143000" y="523951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307592" y="5166360"/>
            <a:ext cx="53035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Hard negatives: visually relevant windows that do not contain the answer.</a:t>
            </a:r>
          </a:p>
        </p:txBody>
      </p:sp>
      <p:sp>
        <p:nvSpPr>
          <p:cNvPr id="154" name="Oval 153"/>
          <p:cNvSpPr/>
          <p:nvPr/>
        </p:nvSpPr>
        <p:spPr>
          <a:xfrm>
            <a:off x="1143000" y="5833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307592" y="5760720"/>
            <a:ext cx="53035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This forced the model to distinguish real evidence from noisy related text.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406640" y="3931920"/>
            <a:ext cx="6492240" cy="292608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7635240" y="4078224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📈  Why it helped</a:t>
            </a:r>
          </a:p>
        </p:txBody>
      </p:sp>
      <p:sp>
        <p:nvSpPr>
          <p:cNvPr id="158" name="Oval 157"/>
          <p:cNvSpPr/>
          <p:nvPr/>
        </p:nvSpPr>
        <p:spPr>
          <a:xfrm>
            <a:off x="7726679" y="464515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891271" y="4572000"/>
            <a:ext cx="5669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Reranking improved the ordering of evidence before the reader.</a:t>
            </a:r>
          </a:p>
        </p:txBody>
      </p:sp>
      <p:sp>
        <p:nvSpPr>
          <p:cNvPr id="160" name="Oval 159"/>
          <p:cNvSpPr/>
          <p:nvPr/>
        </p:nvSpPr>
        <p:spPr>
          <a:xfrm>
            <a:off x="7726679" y="523951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891271" y="5166360"/>
            <a:ext cx="5669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The mDeBERTa reader saw stronger contexts at top ranks.</a:t>
            </a:r>
          </a:p>
        </p:txBody>
      </p:sp>
      <p:sp>
        <p:nvSpPr>
          <p:cNvPr id="162" name="Oval 161"/>
          <p:cNvSpPr/>
          <p:nvPr/>
        </p:nvSpPr>
        <p:spPr>
          <a:xfrm>
            <a:off x="7726679" y="5833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891271" y="5760720"/>
            <a:ext cx="5669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It reduced the number of plausible but unsupported answer candidates.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097280" y="7223760"/>
            <a:ext cx="12435840" cy="5029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417320" y="7342631"/>
            <a:ext cx="117957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Practical effect: the reader’s job became easier because the top evidence windows were more answer-likely.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111867"/>
            <a:ext cx="4572000" cy="45720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77724" y="4353129"/>
            <a:ext cx="5486400" cy="36576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78040" y="5654358"/>
            <a:ext cx="7315200" cy="256032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432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6891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3350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19809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62688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52728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69187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5646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02105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70432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6891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03350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19809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62688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52728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69187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85646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02105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70432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86891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03350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19809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362688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52728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69187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85646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02105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70432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6891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03350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19809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362688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52728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69187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85646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02105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-274320" y="612648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7160" y="62707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8640" y="632756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0120" y="626236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371600" y="611473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83080" y="59742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194560" y="59260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606040" y="59994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017520" y="614992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429000" y="62861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840480" y="63255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251960" y="624414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663440" y="609141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074920" y="595994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-274320" y="6460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37160" y="64869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48640" y="639477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60120" y="623966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371600" y="611573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783080" y="609816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194560" y="61976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606040" y="63537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017520" y="64718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429000" y="64803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840480" y="637397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251960" y="621734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663440" y="610543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74920" y="61061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-274320" y="663858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37160" y="652305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63666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60120" y="62642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371600" y="62779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783080" y="639945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94560" y="65550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606040" y="66503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017520" y="66275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9000" y="650050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840480" y="634622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51960" y="62583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663440" y="629013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074920" y="6422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-274320" y="66486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7160" y="649716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48640" y="64203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60120" y="64648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371600" y="66035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783080" y="6752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194560" y="682113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606040" y="67679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3017520" y="66252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429000" y="64794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840480" y="64190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251960" y="64807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663440" y="662701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074920" y="676919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-274320" y="663260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37160" y="658445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48640" y="66578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960120" y="68082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371600" y="69445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783080" y="69838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2194560" y="690251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606040" y="674977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3017520" y="661831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3429000" y="658786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3840480" y="667690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4251960" y="6831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663440" y="69576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074920" y="69791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-274320" y="67565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37160" y="685597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640" y="701211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60120" y="71302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371600" y="713868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783080" y="703234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2194560" y="68757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606040" y="67638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3017520" y="67645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3429000" y="68773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840480" y="703396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251960" y="71392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663440" y="71294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074920" y="701041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 Display"/>
              </a:defRPr>
            </a:pPr>
            <a:r>
              <a:t>Step 4 — Fine-tuned mDeBERTa Reader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37160" y="320040"/>
            <a:ext cx="411480" cy="411480"/>
          </a:xfrm>
          <a:prstGeom prst="roundRect">
            <a:avLst/>
          </a:prstGeom>
          <a:noFill/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" y="1051560"/>
            <a:ext cx="3840480" cy="27432"/>
          </a:xfrm>
          <a:prstGeom prst="rect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58368" y="1078992"/>
            <a:ext cx="1280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ECEB"/>
                </a:solidFill>
                <a:latin typeface="Aptos"/>
              </a:defRPr>
            </a:pPr>
            <a:r>
              <a:t>Extracting exact answer spans from reranked evidence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1645920"/>
            <a:ext cx="4206240" cy="585216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60120" y="1792224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📚  Training setup</a:t>
            </a:r>
          </a:p>
        </p:txBody>
      </p:sp>
      <p:sp>
        <p:nvSpPr>
          <p:cNvPr id="131" name="Oval 130"/>
          <p:cNvSpPr/>
          <p:nvPr/>
        </p:nvSpPr>
        <p:spPr>
          <a:xfrm>
            <a:off x="1051560" y="2404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216151" y="23317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Trained on answer-positive evidence windows generated in Sprint A.</a:t>
            </a:r>
          </a:p>
        </p:txBody>
      </p:sp>
      <p:sp>
        <p:nvSpPr>
          <p:cNvPr id="133" name="Oval 132"/>
          <p:cNvSpPr/>
          <p:nvPr/>
        </p:nvSpPr>
        <p:spPr>
          <a:xfrm>
            <a:off x="1051560" y="30906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216151" y="30175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Used extractive QA style: predict start and end token of answer span.</a:t>
            </a:r>
          </a:p>
        </p:txBody>
      </p:sp>
      <p:sp>
        <p:nvSpPr>
          <p:cNvPr id="135" name="Oval 134"/>
          <p:cNvSpPr/>
          <p:nvPr/>
        </p:nvSpPr>
        <p:spPr>
          <a:xfrm>
            <a:off x="1051560" y="37764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216151" y="37033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Focused on short Bangla factual answers: names, dates, places, numbers.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394960" y="1645920"/>
            <a:ext cx="4206240" cy="585216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623560" y="1792224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🔬  Inference setup</a:t>
            </a:r>
          </a:p>
        </p:txBody>
      </p:sp>
      <p:sp>
        <p:nvSpPr>
          <p:cNvPr id="139" name="Oval 138"/>
          <p:cNvSpPr/>
          <p:nvPr/>
        </p:nvSpPr>
        <p:spPr>
          <a:xfrm>
            <a:off x="5715000" y="2404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879592" y="23317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For each test question, the reader scanned top reranked windows.</a:t>
            </a:r>
          </a:p>
        </p:txBody>
      </p:sp>
      <p:sp>
        <p:nvSpPr>
          <p:cNvPr id="141" name="Oval 140"/>
          <p:cNvSpPr/>
          <p:nvPr/>
        </p:nvSpPr>
        <p:spPr>
          <a:xfrm>
            <a:off x="5715000" y="30906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879592" y="30175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Generated many candidate spans instead of only one answer.</a:t>
            </a:r>
          </a:p>
        </p:txBody>
      </p:sp>
      <p:sp>
        <p:nvSpPr>
          <p:cNvPr id="143" name="Oval 142"/>
          <p:cNvSpPr/>
          <p:nvPr/>
        </p:nvSpPr>
        <p:spPr>
          <a:xfrm>
            <a:off x="5715000" y="37764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879592" y="37033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Stored reader score, evidence rank, reranker score, and window source.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966960" y="1645920"/>
            <a:ext cx="3931920" cy="585216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0195560" y="1792224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🧩  Reader candidate pool</a:t>
            </a:r>
          </a:p>
        </p:txBody>
      </p:sp>
      <p:sp>
        <p:nvSpPr>
          <p:cNvPr id="147" name="Oval 146"/>
          <p:cNvSpPr/>
          <p:nvPr/>
        </p:nvSpPr>
        <p:spPr>
          <a:xfrm>
            <a:off x="10287000" y="24048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451592" y="2331720"/>
            <a:ext cx="329183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Duplicate or similar spans were grouped by normalized text.</a:t>
            </a:r>
          </a:p>
        </p:txBody>
      </p:sp>
      <p:sp>
        <p:nvSpPr>
          <p:cNvPr id="149" name="Oval 148"/>
          <p:cNvSpPr/>
          <p:nvPr/>
        </p:nvSpPr>
        <p:spPr>
          <a:xfrm>
            <a:off x="10287000" y="30906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451592" y="3017520"/>
            <a:ext cx="329183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Answer candidates received voting and confidence features.</a:t>
            </a:r>
          </a:p>
        </p:txBody>
      </p:sp>
      <p:sp>
        <p:nvSpPr>
          <p:cNvPr id="151" name="Oval 150"/>
          <p:cNvSpPr/>
          <p:nvPr/>
        </p:nvSpPr>
        <p:spPr>
          <a:xfrm>
            <a:off x="10287000" y="377647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451592" y="3703320"/>
            <a:ext cx="329183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This pool enabled B3 voting and Qwen selection later.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97280" y="7086600"/>
            <a:ext cx="12435840" cy="658368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417320" y="7242048"/>
            <a:ext cx="11795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t>mDeBERTa turned reranked evidence into candidate answers; final performance depended on selecting the correct candidate.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28098" y="118872"/>
            <a:ext cx="4572000" cy="45720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234135" y="4242817"/>
            <a:ext cx="5486400" cy="36576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9543" y="5660136"/>
            <a:ext cx="7315200" cy="256032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432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6891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3350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19809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62688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52728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69187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5646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02105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70432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6891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03350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19809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62688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52728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69187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85646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02105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70432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86891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03350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19809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362688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52728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69187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85646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02105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70432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6891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03350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19809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362688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52728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69187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85646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02105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-274320" y="612648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7160" y="62707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8640" y="632756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0120" y="626236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371600" y="611473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83080" y="59742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194560" y="59260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606040" y="59994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017520" y="614992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429000" y="62861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840480" y="63255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251960" y="624414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663440" y="609141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074920" y="595994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-274320" y="6460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37160" y="64869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48640" y="639477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60120" y="623966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371600" y="611573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783080" y="609816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194560" y="61976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606040" y="63537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017520" y="64718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429000" y="64803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840480" y="637397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251960" y="621734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663440" y="610543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74920" y="61061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-274320" y="663858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37160" y="652305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63666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60120" y="62642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371600" y="62779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783080" y="639945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94560" y="65550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606040" y="66503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017520" y="66275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9000" y="650050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840480" y="634622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51960" y="62583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663440" y="629013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074920" y="6422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-274320" y="66486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7160" y="649716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48640" y="64203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60120" y="64648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371600" y="66035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783080" y="6752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194560" y="682113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606040" y="67679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3017520" y="66252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429000" y="64794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840480" y="64190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251960" y="64807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663440" y="662701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074920" y="676919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-274320" y="663260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37160" y="658445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48640" y="66578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960120" y="68082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371600" y="69445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783080" y="69838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2194560" y="690251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606040" y="674977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3017520" y="661831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3429000" y="658786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3840480" y="667690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4251960" y="6831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663440" y="69576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074920" y="69791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-274320" y="67565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37160" y="685597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640" y="701211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60120" y="71302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371600" y="713868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783080" y="703234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2194560" y="68757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606040" y="67638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3017520" y="67645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3429000" y="68773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840480" y="703396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251960" y="71392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663440" y="71294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074920" y="701041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 Display"/>
              </a:defRPr>
            </a:pPr>
            <a:r>
              <a:t>Step 5 — B3 Direct + Qwen Selector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37160" y="320040"/>
            <a:ext cx="411480" cy="411480"/>
          </a:xfrm>
          <a:prstGeom prst="roundRect">
            <a:avLst/>
          </a:prstGeom>
          <a:noFill/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" y="1051560"/>
            <a:ext cx="3840480" cy="27432"/>
          </a:xfrm>
          <a:prstGeom prst="rect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58368" y="1078992"/>
            <a:ext cx="1280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ECEB"/>
                </a:solidFill>
                <a:latin typeface="Aptos"/>
              </a:defRPr>
            </a:pPr>
            <a:r>
              <a:t>From many spans to one final answer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1828800"/>
            <a:ext cx="2194560" cy="100584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664208" y="1664208"/>
            <a:ext cx="329184" cy="329184"/>
          </a:xfrm>
          <a:prstGeom prst="ellipse">
            <a:avLst/>
          </a:prstGeom>
          <a:solidFill>
            <a:srgbClr val="051637"/>
          </a:solidFill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41248" y="2029968"/>
            <a:ext cx="197510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22ECEB"/>
                </a:solidFill>
                <a:latin typeface="Aptos Display"/>
              </a:defRPr>
            </a:pPr>
            <a:r>
              <a:t>Reader Candidates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7824" y="2578608"/>
            <a:ext cx="190195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Answer spans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3063240" y="2212848"/>
            <a:ext cx="685799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3886200" y="1828800"/>
            <a:ext cx="2468880" cy="100584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4956048" y="1664208"/>
            <a:ext cx="329184" cy="329184"/>
          </a:xfrm>
          <a:prstGeom prst="ellipse">
            <a:avLst/>
          </a:prstGeom>
          <a:solidFill>
            <a:srgbClr val="051637"/>
          </a:solidFill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95928" y="2029968"/>
            <a:ext cx="224942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22ECEB"/>
                </a:solidFill>
                <a:latin typeface="Aptos Display"/>
              </a:defRPr>
            </a:pPr>
            <a:r>
              <a:t>B3 Voting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32504" y="2578608"/>
            <a:ext cx="217627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Score + vote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6492240" y="2212848"/>
            <a:ext cx="685800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7315200" y="1828800"/>
            <a:ext cx="2743200" cy="100584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8522208" y="1664208"/>
            <a:ext cx="329184" cy="329184"/>
          </a:xfrm>
          <a:prstGeom prst="ellipse">
            <a:avLst/>
          </a:prstGeom>
          <a:solidFill>
            <a:srgbClr val="051637"/>
          </a:solidFill>
          <a:ln w="19050"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24927" y="2029968"/>
            <a:ext cx="252374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9770FF"/>
                </a:solidFill>
                <a:latin typeface="Aptos Display"/>
              </a:defRPr>
            </a:pPr>
            <a:r>
              <a:t>Qwen 2.5 Selector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61504" y="2578608"/>
            <a:ext cx="245059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Judge candidates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10195560" y="2212848"/>
            <a:ext cx="685800" cy="256032"/>
          </a:xfrm>
          <a:prstGeom prst="rightArrow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11018520" y="1828800"/>
            <a:ext cx="2834640" cy="1005840"/>
          </a:xfrm>
          <a:prstGeom prst="roundRect">
            <a:avLst/>
          </a:prstGeom>
          <a:solidFill>
            <a:srgbClr val="042752"/>
          </a:solidFill>
          <a:ln w="17780">
            <a:solidFill>
              <a:srgbClr val="55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2271248" y="1664208"/>
            <a:ext cx="329184" cy="329184"/>
          </a:xfrm>
          <a:prstGeom prst="ellipse">
            <a:avLst/>
          </a:prstGeom>
          <a:solidFill>
            <a:srgbClr val="051637"/>
          </a:solidFill>
          <a:ln w="19050">
            <a:solidFill>
              <a:srgbClr val="55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128248" y="2029968"/>
            <a:ext cx="2615184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55E6AA"/>
                </a:solidFill>
                <a:latin typeface="Aptos Display"/>
              </a:defRPr>
            </a:pPr>
            <a:r>
              <a:t>Final Answer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164824" y="2578608"/>
            <a:ext cx="254203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Exact short span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22960" y="3429000"/>
            <a:ext cx="6217920" cy="320040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51560" y="3575304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🧠  B3 Direct ensemble</a:t>
            </a:r>
          </a:p>
        </p:txBody>
      </p:sp>
      <p:sp>
        <p:nvSpPr>
          <p:cNvPr id="150" name="Oval 149"/>
          <p:cNvSpPr/>
          <p:nvPr/>
        </p:nvSpPr>
        <p:spPr>
          <a:xfrm>
            <a:off x="1143000" y="414223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307592" y="4069080"/>
            <a:ext cx="539495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Aggregated answer candidates from multiple windows.</a:t>
            </a:r>
          </a:p>
        </p:txBody>
      </p:sp>
      <p:sp>
        <p:nvSpPr>
          <p:cNvPr id="152" name="Oval 151"/>
          <p:cNvSpPr/>
          <p:nvPr/>
        </p:nvSpPr>
        <p:spPr>
          <a:xfrm>
            <a:off x="1143000" y="4672584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307592" y="4599432"/>
            <a:ext cx="539495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Used reader confidence, reranker score, rank, answer vote count, and answer type.</a:t>
            </a:r>
          </a:p>
        </p:txBody>
      </p:sp>
      <p:sp>
        <p:nvSpPr>
          <p:cNvPr id="154" name="Oval 153"/>
          <p:cNvSpPr/>
          <p:nvPr/>
        </p:nvSpPr>
        <p:spPr>
          <a:xfrm>
            <a:off x="1143000" y="5202936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307592" y="5129784"/>
            <a:ext cx="539495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Produced a strong direct submission before any LLM selection.</a:t>
            </a:r>
          </a:p>
        </p:txBody>
      </p:sp>
      <p:sp>
        <p:nvSpPr>
          <p:cNvPr id="156" name="Oval 155"/>
          <p:cNvSpPr/>
          <p:nvPr/>
        </p:nvSpPr>
        <p:spPr>
          <a:xfrm>
            <a:off x="1143000" y="5733288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307592" y="5660136"/>
            <a:ext cx="5394959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B3 Direct scored Public 0.61634 and Private 0.63588.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406640" y="3429000"/>
            <a:ext cx="6492240" cy="320040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635240" y="3575304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✨  Qwen selector</a:t>
            </a:r>
          </a:p>
        </p:txBody>
      </p:sp>
      <p:sp>
        <p:nvSpPr>
          <p:cNvPr id="160" name="Oval 159"/>
          <p:cNvSpPr/>
          <p:nvPr/>
        </p:nvSpPr>
        <p:spPr>
          <a:xfrm>
            <a:off x="7726679" y="4142232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891271" y="4069080"/>
            <a:ext cx="5669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Qwen did not freely generate answers; it selected from existing candidates.</a:t>
            </a:r>
          </a:p>
        </p:txBody>
      </p:sp>
      <p:sp>
        <p:nvSpPr>
          <p:cNvPr id="162" name="Oval 161"/>
          <p:cNvSpPr/>
          <p:nvPr/>
        </p:nvSpPr>
        <p:spPr>
          <a:xfrm>
            <a:off x="7726679" y="4672584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891271" y="4599432"/>
            <a:ext cx="5669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Prompt included question, top evidence, B3 direct answer, and candidate spans.</a:t>
            </a:r>
          </a:p>
        </p:txBody>
      </p:sp>
      <p:sp>
        <p:nvSpPr>
          <p:cNvPr id="164" name="Oval 163"/>
          <p:cNvSpPr/>
          <p:nvPr/>
        </p:nvSpPr>
        <p:spPr>
          <a:xfrm>
            <a:off x="7726679" y="5202936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891271" y="5129784"/>
            <a:ext cx="5669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Invalid Qwen outputs were rejected, keeping the pipeline safe and extractive.</a:t>
            </a:r>
          </a:p>
        </p:txBody>
      </p:sp>
      <p:sp>
        <p:nvSpPr>
          <p:cNvPr id="166" name="Oval 165"/>
          <p:cNvSpPr/>
          <p:nvPr/>
        </p:nvSpPr>
        <p:spPr>
          <a:xfrm>
            <a:off x="7726679" y="5733288"/>
            <a:ext cx="73152" cy="73152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891271" y="5660136"/>
            <a:ext cx="5669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  <a:latin typeface="Aptos"/>
              </a:defRPr>
            </a:pPr>
            <a:r>
              <a:t>Final Qwen Medium scored Public 0.61950 and Private 0.64512.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97280" y="7132320"/>
            <a:ext cx="12435840" cy="566928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1417320" y="7278624"/>
            <a:ext cx="117957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22ECEB"/>
                </a:solidFill>
                <a:latin typeface="Aptos"/>
              </a:defRPr>
            </a:pPr>
            <a:r>
              <a:t>Main insight: the LLM was most useful as a verifier/selector, not as a standalone generator.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116706"/>
            <a:ext cx="4572000" cy="45720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" y="4202693"/>
            <a:ext cx="5486400" cy="365760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247822" y="5515651"/>
            <a:ext cx="7315200" cy="2560320"/>
          </a:xfrm>
          <a:prstGeom prst="ellipse">
            <a:avLst/>
          </a:prstGeom>
          <a:solidFill>
            <a:srgbClr val="00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1170432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6891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3350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19809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62688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527280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691872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56464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021056" y="182880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70432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6891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03350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19809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62688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527280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691872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856464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021056" y="347472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70432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86891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03350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19809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362688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527280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691872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856464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021056" y="512064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70432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6891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03350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19809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362688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527280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691872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856464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021056" y="676656"/>
            <a:ext cx="32004" cy="32004"/>
          </a:xfrm>
          <a:prstGeom prst="ellipse">
            <a:avLst/>
          </a:prstGeom>
          <a:solidFill>
            <a:srgbClr val="00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-274320" y="612648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7160" y="62707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8640" y="632756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0120" y="626236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371600" y="611473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83080" y="59742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194560" y="59260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606040" y="59994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017520" y="614992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429000" y="62861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840480" y="63255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251960" y="624414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663440" y="609141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074920" y="595994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-274320" y="6460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37160" y="64869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48640" y="639477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60120" y="623966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371600" y="611573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783080" y="609816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194560" y="61976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606040" y="63537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017520" y="64718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429000" y="64803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840480" y="637397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251960" y="621734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663440" y="610543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74920" y="61061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-274320" y="663858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37160" y="652305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63666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60120" y="626423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371600" y="62779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783080" y="639945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94560" y="65550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606040" y="665037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017520" y="66275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9000" y="650050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840480" y="634622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51960" y="62583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663440" y="629013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074920" y="642234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-274320" y="664864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7160" y="649716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48640" y="64203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60120" y="64648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371600" y="660354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783080" y="6752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194560" y="682113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606040" y="67679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3017520" y="66252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429000" y="647946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3840480" y="641908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251960" y="648074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663440" y="662701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074920" y="676919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-274320" y="663260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37160" y="658445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48640" y="665785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960120" y="680829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371600" y="694450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783080" y="69838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2194560" y="690251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606040" y="6749779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3017520" y="661831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3429000" y="6587868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3840480" y="667690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4251960" y="683142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663440" y="695768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074920" y="69791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-274320" y="675653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37160" y="685597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640" y="7012112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60120" y="713023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371600" y="713868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783080" y="703234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2194560" y="6875716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606040" y="676380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3017520" y="6764500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3429000" y="6877375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840480" y="7033964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251960" y="7139281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663440" y="7129443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074920" y="7010417"/>
            <a:ext cx="32004" cy="32004"/>
          </a:xfrm>
          <a:prstGeom prst="ellipse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 Display"/>
              </a:defRPr>
            </a:pPr>
            <a:r>
              <a:t>Previous Attempts &amp; Lessons Learned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37160" y="320040"/>
            <a:ext cx="411480" cy="411480"/>
          </a:xfrm>
          <a:prstGeom prst="roundRect">
            <a:avLst/>
          </a:prstGeom>
          <a:noFill/>
          <a:ln w="1905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" y="1051560"/>
            <a:ext cx="3840480" cy="27432"/>
          </a:xfrm>
          <a:prstGeom prst="rect">
            <a:avLst/>
          </a:prstGeom>
          <a:solidFill>
            <a:srgbClr val="22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58368" y="1078992"/>
            <a:ext cx="1280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ECEB"/>
                </a:solidFill>
                <a:latin typeface="Aptos"/>
              </a:defRPr>
            </a:pPr>
            <a:r>
              <a:t>Each sprint exposed a new bottleneck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1645920"/>
            <a:ext cx="4114800" cy="23317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60120" y="17922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Sprint 2 Baseline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0120" y="2331720"/>
            <a:ext cx="36576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Hybrid retrieval + basic answer generation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60120" y="2834640"/>
            <a:ext cx="16459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22ECEB"/>
                </a:solidFill>
                <a:latin typeface="Aptos"/>
              </a:defRPr>
            </a:pPr>
            <a:r>
              <a:t>Public 0.52723</a:t>
            </a:r>
            <a:br/>
            <a:r>
              <a:t>Private 0.51452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97480" y="2788920"/>
            <a:ext cx="192024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>
                <a:solidFill>
                  <a:srgbClr val="B4CDDC"/>
                </a:solidFill>
                <a:latin typeface="Aptos"/>
              </a:defRPr>
            </a:pPr>
            <a:r>
              <a:t>Lesson: retrieval alone was insufficient.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303520" y="1645920"/>
            <a:ext cx="4114800" cy="23317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532120" y="17922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Early Sprint 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532120" y="2331720"/>
            <a:ext cx="36576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Reasoning-chunk reader fine-tune attempt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32120" y="2834640"/>
            <a:ext cx="16459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22ECEB"/>
                </a:solidFill>
                <a:latin typeface="Aptos"/>
              </a:defRPr>
            </a:pPr>
            <a:r>
              <a:t>Discarded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269479" y="2788920"/>
            <a:ext cx="192024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>
                <a:solidFill>
                  <a:srgbClr val="B4CDDC"/>
                </a:solidFill>
                <a:latin typeface="Aptos"/>
              </a:defRPr>
            </a:pPr>
            <a:r>
              <a:t>Lesson: reasoning text was not the right training context.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875520" y="1645920"/>
            <a:ext cx="4114800" cy="23317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104120" y="17922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Sprint 3 Recovery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104120" y="2331720"/>
            <a:ext cx="36576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Positive KB chunks + answer selection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104120" y="2834640"/>
            <a:ext cx="16459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22ECEB"/>
                </a:solidFill>
                <a:latin typeface="Aptos"/>
              </a:defRPr>
            </a:pPr>
            <a:r>
              <a:t>Public 0.57626</a:t>
            </a:r>
            <a:br/>
            <a:r>
              <a:t>Private 0.58104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841480" y="2788920"/>
            <a:ext cx="192024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>
                <a:solidFill>
                  <a:srgbClr val="B4CDDC"/>
                </a:solidFill>
                <a:latin typeface="Aptos"/>
              </a:defRPr>
            </a:pPr>
            <a:r>
              <a:t>Lesson: answer-containing windows improved extraction.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31520" y="4389120"/>
            <a:ext cx="4114800" cy="23317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60120" y="45354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Sprint 3 Improved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60120" y="5074920"/>
            <a:ext cx="36576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Fast short-window gated reader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60120" y="5577840"/>
            <a:ext cx="16459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22ECEB"/>
                </a:solidFill>
                <a:latin typeface="Aptos"/>
              </a:defRPr>
            </a:pPr>
            <a:r>
              <a:t>Public 0.58676</a:t>
            </a:r>
            <a:br/>
            <a:r>
              <a:t>Private 0.57976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97480" y="5532120"/>
            <a:ext cx="192024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>
                <a:solidFill>
                  <a:srgbClr val="B4CDDC"/>
                </a:solidFill>
                <a:latin typeface="Aptos"/>
              </a:defRPr>
            </a:pPr>
            <a:r>
              <a:t>Lesson: shorter contexts helped but confidence gating was limited.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0" y="4389120"/>
            <a:ext cx="4114800" cy="23317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532120" y="45354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Improved-2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32120" y="5074920"/>
            <a:ext cx="36576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Fresh mDeBERTa on focused windows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532120" y="5577840"/>
            <a:ext cx="16459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22ECEB"/>
                </a:solidFill>
                <a:latin typeface="Aptos"/>
              </a:defRPr>
            </a:pPr>
            <a:r>
              <a:t>Public 0.59474</a:t>
            </a:r>
            <a:br/>
            <a:r>
              <a:t>Private 0.58468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269479" y="5532120"/>
            <a:ext cx="192024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>
                <a:solidFill>
                  <a:srgbClr val="B4CDDC"/>
                </a:solidFill>
                <a:latin typeface="Aptos"/>
              </a:defRPr>
            </a:pPr>
            <a:r>
              <a:t>Lesson: better reader helped, but evidence ranking still mattered.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875520" y="4389120"/>
            <a:ext cx="4114800" cy="23317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104120" y="4535424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ECEB"/>
                </a:solidFill>
                <a:latin typeface="Aptos Display"/>
              </a:defRPr>
            </a:pPr>
            <a:r>
              <a:t>Final Direction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104120" y="5074920"/>
            <a:ext cx="36576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Reranker + reader + Qwen selector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104120" y="5577840"/>
            <a:ext cx="16459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22ECEB"/>
                </a:solidFill>
                <a:latin typeface="Aptos"/>
              </a:defRPr>
            </a:pPr>
            <a:r>
              <a:t>Public 0.61950</a:t>
            </a:r>
            <a:br/>
            <a:r>
              <a:t>Private 0.64512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841480" y="5532120"/>
            <a:ext cx="192024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>
                <a:solidFill>
                  <a:srgbClr val="B4CDDC"/>
                </a:solidFill>
                <a:latin typeface="Aptos"/>
              </a:defRPr>
            </a:pPr>
            <a:r>
              <a:t>Lesson: the full multi-stage pipeline gave the best result.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14400" y="7223760"/>
            <a:ext cx="12801600" cy="502920"/>
          </a:xfrm>
          <a:prstGeom prst="roundRect">
            <a:avLst/>
          </a:prstGeom>
          <a:solidFill>
            <a:srgbClr val="051D45"/>
          </a:solidFill>
          <a:ln w="15240">
            <a:solidFill>
              <a:srgbClr val="22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234440" y="7351775"/>
            <a:ext cx="121615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We kept the diagnostic learnings, but the final method focuses on the strongest fallback-free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eriment_performance_progress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ey_takeaways_from_the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869</Words>
  <Application>Microsoft Office PowerPoint</Application>
  <PresentationFormat>Custom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Acer</dc:creator>
  <cp:keywords/>
  <dc:description>generated using python-pptx</dc:description>
  <cp:lastModifiedBy>Acer</cp:lastModifiedBy>
  <cp:revision>2</cp:revision>
  <dcterms:created xsi:type="dcterms:W3CDTF">2013-01-27T09:14:16Z</dcterms:created>
  <dcterms:modified xsi:type="dcterms:W3CDTF">2026-06-11T16:01:37Z</dcterms:modified>
  <cp:category/>
</cp:coreProperties>
</file>